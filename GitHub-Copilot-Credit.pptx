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oboto Slab"/>
      <p:regular r:id="rId17"/>
    </p:embeddedFont>
    <p:embeddedFont>
      <p:font typeface="Roboto Slab Bold"/>
      <p:regular r:id="rId18"/>
    </p:embeddedFont>
    <p:embeddedFont>
      <p:font typeface="Roboto"/>
      <p:regular r:id="rId19"/>
    </p:embeddedFont>
    <p:embeddedFont>
      <p:font typeface="Roboto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7795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GitHub Copilot Credit 成本控管測試摘要</a:t>
            </a:r>
            <a:endParaRPr lang="zh-CN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7652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從 prototype 產生 Vue 功能頁的實測出發，深入解析 AI 使用成本的隱性結構，為後續制定企業級 AI 開發規範提供具體參考。</a:t>
            </a:r>
            <a:endParaRPr lang="zh-CN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94385"/>
            <a:ext cx="1303437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336875"/>
            <a:ext cx="159052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凱基證券內部測試報告</a:t>
            </a:r>
            <a:endParaRPr lang="zh-CN" sz="850" dirty="0"/>
          </a:p>
        </p:txBody>
      </p:sp>
      <p:sp>
        <p:nvSpPr>
          <p:cNvPr id="7" name="Shape 4"/>
          <p:cNvSpPr/>
          <p:nvPr/>
        </p:nvSpPr>
        <p:spPr>
          <a:xfrm>
            <a:off x="1870397" y="3289622"/>
            <a:ext cx="110735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0215" y="3336875"/>
            <a:ext cx="13849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AI-ENABLED SDLC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393" y="355178"/>
            <a:ext cx="4417665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看得見的讀寫量 ≠ 實際計費量</a:t>
            </a:r>
            <a:endParaRPr lang="zh-CN" sz="2350" dirty="0"/>
          </a:p>
        </p:txBody>
      </p:sp>
      <p:sp>
        <p:nvSpPr>
          <p:cNvPr id="4" name="Text 1"/>
          <p:cNvSpPr/>
          <p:nvPr/>
        </p:nvSpPr>
        <p:spPr>
          <a:xfrm>
            <a:off x="426393" y="892894"/>
            <a:ext cx="4862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zh-CN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本次測試以「從 prototype 產生 Vue 功能頁」為案例，觀察到可見讀寫與實際計費存在顯著落差。</a:t>
            </a:r>
            <a:endParaRPr lang="zh-CN" sz="950" dirty="0"/>
          </a:p>
        </p:txBody>
      </p:sp>
      <p:sp>
        <p:nvSpPr>
          <p:cNvPr id="5" name="Text 2"/>
          <p:cNvSpPr/>
          <p:nvPr/>
        </p:nvSpPr>
        <p:spPr>
          <a:xfrm>
            <a:off x="426393" y="1433885"/>
            <a:ext cx="23656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51.94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847799" y="1975321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粗估 Credits</a:t>
            </a:r>
            <a:endParaRPr lang="zh-CN" sz="1150" dirty="0"/>
          </a:p>
        </p:txBody>
      </p:sp>
      <p:sp>
        <p:nvSpPr>
          <p:cNvPr id="7" name="Text 4"/>
          <p:cNvSpPr/>
          <p:nvPr/>
        </p:nvSpPr>
        <p:spPr>
          <a:xfrm>
            <a:off x="426393" y="2228478"/>
            <a:ext cx="23656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zh-CN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僅計入可見 input（32,453 tokens）與 output（29,218 tokens）</a:t>
            </a:r>
            <a:endParaRPr lang="zh-CN" sz="950" dirty="0"/>
          </a:p>
        </p:txBody>
      </p:sp>
      <p:sp>
        <p:nvSpPr>
          <p:cNvPr id="8" name="Text 5"/>
          <p:cNvSpPr/>
          <p:nvPr/>
        </p:nvSpPr>
        <p:spPr>
          <a:xfrm>
            <a:off x="2922910" y="1433885"/>
            <a:ext cx="23656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123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3344317" y="1975321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實際花費 Credits</a:t>
            </a:r>
            <a:endParaRPr lang="zh-CN" sz="1150" dirty="0"/>
          </a:p>
        </p:txBody>
      </p:sp>
      <p:sp>
        <p:nvSpPr>
          <p:cNvPr id="10" name="Text 7"/>
          <p:cNvSpPr/>
          <p:nvPr/>
        </p:nvSpPr>
        <p:spPr>
          <a:xfrm>
            <a:off x="2922910" y="2228478"/>
            <a:ext cx="23656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zh-CN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實際觀察到的總成本，約為粗估值的 2.4 倍</a:t>
            </a:r>
            <a:endParaRPr lang="zh-CN" sz="950" dirty="0"/>
          </a:p>
        </p:txBody>
      </p:sp>
      <p:sp>
        <p:nvSpPr>
          <p:cNvPr id="11" name="Text 8"/>
          <p:cNvSpPr/>
          <p:nvPr/>
        </p:nvSpPr>
        <p:spPr>
          <a:xfrm>
            <a:off x="1674614" y="2861072"/>
            <a:ext cx="23656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2.4x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2096021" y="340250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隱性成本倍率</a:t>
            </a:r>
            <a:endParaRPr lang="zh-CN" sz="1150" dirty="0"/>
          </a:p>
        </p:txBody>
      </p:sp>
      <p:sp>
        <p:nvSpPr>
          <p:cNvPr id="13" name="Text 10"/>
          <p:cNvSpPr/>
          <p:nvPr/>
        </p:nvSpPr>
        <p:spPr>
          <a:xfrm>
            <a:off x="1674614" y="3655665"/>
            <a:ext cx="2365697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4000"/>
              </a:lnSpc>
              <a:buNone/>
            </a:pPr>
            <a:r>
              <a:rPr lang="zh-CN" alt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來自 system instructions、Agent 上下文、Skill、歷史對話等</a:t>
            </a:r>
            <a:endParaRPr lang="zh-CN" sz="950" dirty="0"/>
          </a:p>
        </p:txBody>
      </p:sp>
      <p:sp>
        <p:nvSpPr>
          <p:cNvPr id="14" name="Shape 11"/>
          <p:cNvSpPr/>
          <p:nvPr/>
        </p:nvSpPr>
        <p:spPr>
          <a:xfrm>
            <a:off x="426393" y="4135785"/>
            <a:ext cx="4862215" cy="652537"/>
          </a:xfrm>
          <a:prstGeom prst="roundRect">
            <a:avLst>
              <a:gd name="adj" fmla="val 2801"/>
            </a:avLst>
          </a:prstGeom>
          <a:solidFill>
            <a:srgbClr val="B6D6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08" y="4314751"/>
            <a:ext cx="152251" cy="1218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275" y="4270846"/>
            <a:ext cx="434451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zh-CN" alt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成本控管不能只看「讀了幾個檔案」或「產了幾行程式」，更要控制整個 session 與上下文。</a:t>
            </a:r>
            <a:endParaRPr lang="zh-CN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五大主要成本來源</a:t>
            </a:r>
            <a:endParaRPr lang="zh-CN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2321719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關鍵洞察</a:t>
            </a:r>
            <a:endParaRPr lang="zh-CN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588196"/>
            <a:ext cx="3759622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長 session 會持續墊高後續每一輪請求的 input 成本。同一句很短的問題，在新 session 約 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credit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，在長 session 則需 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3.3 credits</a:t>
            </a:r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。</a:t>
            </a:r>
            <a:endParaRPr lang="zh-CN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zh-CN" alt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背後可能經過 6 次以上模型呼叫（判斷需求→讀檔→決定修改→執行 patch→錯誤補修→整理回答），每次都可能重新攜帶固定上下文。</a:t>
            </a:r>
            <a:endParaRPr lang="zh-CN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7095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大型檔案是常見高成本來源</a:t>
            </a:r>
            <a:endParaRPr lang="zh-CN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4692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Locale 占可見 Input 近半</a:t>
            </a:r>
            <a:endParaRPr lang="zh-CN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本次測試中，locale 多語系檔單一項即占可見 input 的 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46.7%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（15,140 tokens）。</a:t>
            </a:r>
            <a:endParaRPr lang="zh-CN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新增功能頁時，若整檔讀取多語系檔、參考頁、story、composable，將明顯增加成本。</a:t>
            </a:r>
            <a:endParaRPr lang="zh-CN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034605"/>
            <a:ext cx="3902943" cy="1056010"/>
          </a:xfrm>
          <a:prstGeom prst="roundRect">
            <a:avLst>
              <a:gd name="adj" fmla="val 2014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249662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211785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大型 patch 失敗重送，粗估可能額外增加 6,000～14,000 input tokens。一次修改太多檔案會提高失敗與重送成本。</a:t>
            </a:r>
            <a:endParaRPr lang="zh-CN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8160"/>
            <a:ext cx="59220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Skill 設計：短而精，而非越短越好</a:t>
            </a:r>
            <a:endParaRPr lang="zh-CN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0466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300 行 Skill 比 150 行約多 10 credits，但樣本數不足，不能直接下定論。關鍵在於「完成同一任務的總 credits」與「一次成功率」。</a:t>
            </a:r>
            <a:endParaRPr lang="zh-CN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2217762"/>
            <a:ext cx="4107135" cy="2047577"/>
          </a:xfrm>
          <a:prstGeom prst="roundRect">
            <a:avLst>
              <a:gd name="adj" fmla="val 1039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2359521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建議保留</a:t>
            </a:r>
            <a:endParaRPr lang="zh-CN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2727499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任務目標與執行步驟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必讀輸入與產出格式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檢查清單與常見錯誤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必要流程與檢查點</a:t>
            </a:r>
            <a:endParaRPr lang="zh-CN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359521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建議移除</a:t>
            </a:r>
            <a:endParaRPr lang="zh-CN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727499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完整 Clean Architecture 教學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大量程式碼範例與模板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大段 oldString / newString patch 範例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多個任務混在同一份 Skill</a:t>
            </a:r>
            <a:endParaRPr lang="zh-CN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391098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建議長度：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100～250 行</a:t>
            </a:r>
            <a:endParaRPr lang="zh-CN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722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模型分級：高階決策，低階執行</a:t>
            </a:r>
            <a:endParaRPr lang="zh-CN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7083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完整且明確的 Skill，可讓部分標準化任務改用較低成本模型，在維持品質的前提下降低總 credits。</a:t>
            </a:r>
            <a:endParaRPr lang="zh-CN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83929"/>
            <a:ext cx="4722763" cy="2087314"/>
          </a:xfrm>
          <a:prstGeom prst="roundRect">
            <a:avLst>
              <a:gd name="adj" fmla="val 1019"/>
            </a:avLst>
          </a:prstGeom>
          <a:solidFill>
            <a:srgbClr val="E9ECF2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2383929"/>
            <a:ext cx="2361381" cy="1270471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25256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高階模型</a:t>
            </a:r>
            <a:endParaRPr lang="zh-CN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2832199"/>
            <a:ext cx="207786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需求分析、架構設計、Use Case 拆解、Legacy Mapping、技術取捨與風險評估</a:t>
            </a:r>
            <a:endParaRPr lang="zh-CN" sz="1100" dirty="0"/>
          </a:p>
        </p:txBody>
      </p:sp>
      <p:sp>
        <p:nvSpPr>
          <p:cNvPr id="9" name="Shape 6"/>
          <p:cNvSpPr/>
          <p:nvPr/>
        </p:nvSpPr>
        <p:spPr>
          <a:xfrm>
            <a:off x="2857500" y="2383929"/>
            <a:ext cx="2361381" cy="1270471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2383929"/>
            <a:ext cx="19050" cy="1270471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1" name="Text 8"/>
          <p:cNvSpPr/>
          <p:nvPr/>
        </p:nvSpPr>
        <p:spPr>
          <a:xfrm>
            <a:off x="2999259" y="25256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中階模型</a:t>
            </a:r>
            <a:endParaRPr lang="zh-CN" sz="1350" dirty="0"/>
          </a:p>
        </p:txBody>
      </p:sp>
      <p:sp>
        <p:nvSpPr>
          <p:cNvPr id="12" name="Text 9"/>
          <p:cNvSpPr/>
          <p:nvPr/>
        </p:nvSpPr>
        <p:spPr>
          <a:xfrm>
            <a:off x="2999259" y="2832199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單一模模組實作、單一 Use Case、API 實作、跨模組協調</a:t>
            </a:r>
            <a:endParaRPr lang="zh-CN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654400"/>
            <a:ext cx="4722763" cy="816843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496119" y="3654400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5" name="Text 12"/>
          <p:cNvSpPr/>
          <p:nvPr/>
        </p:nvSpPr>
        <p:spPr>
          <a:xfrm>
            <a:off x="637877" y="37961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低階模型</a:t>
            </a:r>
            <a:endParaRPr lang="zh-CN" sz="1350" dirty="0"/>
          </a:p>
        </p:txBody>
      </p:sp>
      <p:sp>
        <p:nvSpPr>
          <p:cNvPr id="16" name="Text 13"/>
          <p:cNvSpPr/>
          <p:nvPr/>
        </p:nvSpPr>
        <p:spPr>
          <a:xfrm>
            <a:off x="637877" y="410267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Controller、DTO、Validator、測試骨架、文件格式整理、命名規範檢查</a:t>
            </a:r>
            <a:endParaRPr lang="zh-CN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23999"/>
            <a:ext cx="399983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上下文成本控管：四層架構</a:t>
            </a:r>
            <a:endParaRPr lang="zh-CN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988" y="815727"/>
            <a:ext cx="7089874" cy="3765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0169" y="3710849"/>
            <a:ext cx="1650660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提示與文件</a:t>
            </a:r>
            <a:endParaRPr lang="zh-CN" sz="1250" dirty="0"/>
          </a:p>
        </p:txBody>
      </p:sp>
      <p:sp>
        <p:nvSpPr>
          <p:cNvPr id="5" name="Text 2"/>
          <p:cNvSpPr/>
          <p:nvPr/>
        </p:nvSpPr>
        <p:spPr>
          <a:xfrm>
            <a:off x="4690169" y="3975872"/>
            <a:ext cx="2685074" cy="14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zh-CN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任務專用，必要時引用完整文件。</a:t>
            </a:r>
            <a:endParaRPr lang="zh-CN" sz="1000" dirty="0"/>
          </a:p>
        </p:txBody>
      </p:sp>
      <p:sp>
        <p:nvSpPr>
          <p:cNvPr id="6" name="Text 3"/>
          <p:cNvSpPr/>
          <p:nvPr/>
        </p:nvSpPr>
        <p:spPr>
          <a:xfrm>
            <a:off x="5262398" y="2911196"/>
            <a:ext cx="1650660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技能檔</a:t>
            </a:r>
            <a:endParaRPr lang="zh-CN" sz="1250" dirty="0"/>
          </a:p>
        </p:txBody>
      </p:sp>
      <p:sp>
        <p:nvSpPr>
          <p:cNvPr id="7" name="Text 4"/>
          <p:cNvSpPr/>
          <p:nvPr/>
        </p:nvSpPr>
        <p:spPr>
          <a:xfrm>
            <a:off x="5262398" y="3176219"/>
            <a:ext cx="2685074" cy="14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zh-CN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流程說明，不作為範本，100–250行。</a:t>
            </a:r>
            <a:endParaRPr lang="zh-CN" sz="1000" dirty="0"/>
          </a:p>
        </p:txBody>
      </p:sp>
      <p:sp>
        <p:nvSpPr>
          <p:cNvPr id="8" name="Text 5"/>
          <p:cNvSpPr/>
          <p:nvPr/>
        </p:nvSpPr>
        <p:spPr>
          <a:xfrm>
            <a:off x="5203708" y="1928137"/>
            <a:ext cx="1650660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路徑指令</a:t>
            </a:r>
            <a:endParaRPr lang="zh-CN" sz="1250" dirty="0"/>
          </a:p>
        </p:txBody>
      </p:sp>
      <p:sp>
        <p:nvSpPr>
          <p:cNvPr id="9" name="Text 6"/>
          <p:cNvSpPr/>
          <p:nvPr/>
        </p:nvSpPr>
        <p:spPr>
          <a:xfrm>
            <a:off x="5203708" y="2193159"/>
            <a:ext cx="2685073" cy="14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zh-CN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依檔案模式套用，50–150行。</a:t>
            </a:r>
            <a:endParaRPr lang="zh-CN" sz="1000" dirty="0"/>
          </a:p>
        </p:txBody>
      </p:sp>
      <p:sp>
        <p:nvSpPr>
          <p:cNvPr id="10" name="Text 7"/>
          <p:cNvSpPr/>
          <p:nvPr/>
        </p:nvSpPr>
        <p:spPr>
          <a:xfrm>
            <a:off x="4572789" y="1040448"/>
            <a:ext cx="1650660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全域指令</a:t>
            </a:r>
            <a:endParaRPr lang="zh-CN" sz="1250" dirty="0"/>
          </a:p>
        </p:txBody>
      </p:sp>
      <p:sp>
        <p:nvSpPr>
          <p:cNvPr id="11" name="Text 8"/>
          <p:cNvSpPr/>
          <p:nvPr/>
        </p:nvSpPr>
        <p:spPr>
          <a:xfrm>
            <a:off x="4572789" y="1305471"/>
            <a:ext cx="2685074" cy="14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zh-CN" alt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架構與資安原則，20–50行。</a:t>
            </a:r>
            <a:endParaRPr lang="zh-CN" sz="1000" dirty="0"/>
          </a:p>
        </p:txBody>
      </p:sp>
      <p:sp>
        <p:nvSpPr>
          <p:cNvPr id="12" name="Text 9"/>
          <p:cNvSpPr/>
          <p:nvPr/>
        </p:nvSpPr>
        <p:spPr>
          <a:xfrm>
            <a:off x="903759" y="4670599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文件可以完整，但不要每次都強制 AI 全部讀取。Docs 放完整規範，需要時才引用；Examples 範例獨立存放，不常駐於上下文。</a:t>
            </a:r>
            <a:endParaRPr lang="zh-CN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8733"/>
            <a:ext cx="42046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降本做法：保守 vs 積極</a:t>
            </a:r>
            <a:endParaRPr lang="zh-CN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53791"/>
            <a:ext cx="63296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936" y="1801044"/>
            <a:ext cx="91053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8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保守做法</a:t>
            </a:r>
            <a:endParaRPr lang="zh-CN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08642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低風險收斂</a:t>
            </a:r>
            <a:endParaRPr lang="zh-CN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49637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Locale 只讀命中區塊，不整檔讀取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 只讀最接近的一個範例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Patch 先分檔、再分區塊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任務切長就開新 session</a:t>
            </a:r>
            <a:endParaRPr lang="zh-CN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63311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預期可降低部分 input 成本，不會明顯影響成功率。</a:t>
            </a:r>
            <a:endParaRPr lang="zh-CN" sz="1100" dirty="0"/>
          </a:p>
        </p:txBody>
      </p:sp>
      <p:sp>
        <p:nvSpPr>
          <p:cNvPr id="8" name="Shape 6"/>
          <p:cNvSpPr/>
          <p:nvPr/>
        </p:nvSpPr>
        <p:spPr>
          <a:xfrm>
            <a:off x="4647605" y="1594321"/>
            <a:ext cx="4107135" cy="2610445"/>
          </a:xfrm>
          <a:prstGeom prst="roundRect">
            <a:avLst>
              <a:gd name="adj" fmla="val 815"/>
            </a:avLst>
          </a:prstGeom>
          <a:solidFill>
            <a:srgbClr val="3257B8"/>
          </a:solidFill>
          <a:ln/>
        </p:spPr>
      </p:sp>
      <p:sp>
        <p:nvSpPr>
          <p:cNvPr id="9" name="Shape 7"/>
          <p:cNvSpPr/>
          <p:nvPr/>
        </p:nvSpPr>
        <p:spPr>
          <a:xfrm>
            <a:off x="4789363" y="1753791"/>
            <a:ext cx="623441" cy="266402"/>
          </a:xfrm>
          <a:prstGeom prst="roundRect">
            <a:avLst>
              <a:gd name="adj" fmla="val 6386"/>
            </a:avLst>
          </a:prstGeom>
          <a:solidFill>
            <a:srgbClr val="101C3C"/>
          </a:solidFill>
          <a:ln/>
        </p:spPr>
      </p:sp>
      <p:sp>
        <p:nvSpPr>
          <p:cNvPr id="10" name="Text 8"/>
          <p:cNvSpPr/>
          <p:nvPr/>
        </p:nvSpPr>
        <p:spPr>
          <a:xfrm>
            <a:off x="4874419" y="1796281"/>
            <a:ext cx="91053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積極做法</a:t>
            </a:r>
            <a:endParaRPr lang="zh-CN" sz="850" dirty="0"/>
          </a:p>
        </p:txBody>
      </p:sp>
      <p:sp>
        <p:nvSpPr>
          <p:cNvPr id="11" name="Text 9"/>
          <p:cNvSpPr/>
          <p:nvPr/>
        </p:nvSpPr>
        <p:spPr>
          <a:xfrm>
            <a:off x="4789363" y="207689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標準化流程</a:t>
            </a:r>
            <a:endParaRPr lang="zh-CN" sz="1350" dirty="0"/>
          </a:p>
        </p:txBody>
      </p:sp>
      <p:sp>
        <p:nvSpPr>
          <p:cNvPr id="12" name="Text 10"/>
          <p:cNvSpPr/>
          <p:nvPr/>
        </p:nvSpPr>
        <p:spPr>
          <a:xfrm>
            <a:off x="4789363" y="2440112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只讀 prototype 與最像的一個既有功能頁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先建立最小可運作版本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第一輪 patch 後立即跑錯誤檢查</a:t>
            </a:r>
            <a:endParaRPr lang="zh-CN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zh-CN" alt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跨主題直接開新 session</a:t>
            </a:r>
            <a:endParaRPr lang="zh-CN" sz="1100" dirty="0"/>
          </a:p>
        </p:txBody>
      </p:sp>
      <p:sp>
        <p:nvSpPr>
          <p:cNvPr id="13" name="Text 11"/>
          <p:cNvSpPr/>
          <p:nvPr/>
        </p:nvSpPr>
        <p:spPr>
          <a:xfrm>
            <a:off x="4789363" y="3623593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可能降低更多 credits，但需要較明確的標準流程與開發紀律。</a:t>
            </a:r>
            <a:endParaRPr lang="zh-CN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50638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企業內部治理：四項核心機制</a:t>
            </a:r>
            <a:endParaRPr lang="zh-CN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模型分級</a:t>
            </a:r>
            <a:endParaRPr lang="zh-CN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依任務複雜度分配高／中／低階模型，避免高階模型處理模板化任務。</a:t>
            </a:r>
            <a:endParaRPr lang="zh-CN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上下文分層</a:t>
            </a:r>
            <a:endParaRPr lang="zh-CN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全域 instructions 要短、路徑型要精準、Skill 放流程、Docs 需要時才讀。</a:t>
            </a:r>
            <a:endParaRPr lang="zh-CN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成本觀察指標</a:t>
            </a:r>
            <a:endParaRPr lang="zh-CN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記錄總 credits、input/output 比例、assistant 回合數、patch 失敗次數、一次成功率。</a:t>
            </a:r>
            <a:endParaRPr lang="zh-CN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綜合評估標準</a:t>
            </a:r>
            <a:endParaRPr lang="zh-CN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不只單次請求成本，應看「總 credits + 一次成功率 + 人工修正成本」。</a:t>
            </a:r>
            <a:endParaRPr lang="zh-CN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4825"/>
            <a:ext cx="763056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建議主管決策：從 Pilot 到可控的 AI 開發流程</a:t>
            </a:r>
            <a:endParaRPr lang="zh-CN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3132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後續 Pilot 不只驗證「Copilot 能不能產程式」，更要同步驗證以下六項關鍵問題。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1761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39516"/>
            <a:ext cx="4004965" cy="19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1948458"/>
            <a:ext cx="19482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哪些任務適合高階模型？</a:t>
            </a:r>
            <a:endParaRPr lang="zh-CN" sz="1350" dirty="0"/>
          </a:p>
        </p:txBody>
      </p:sp>
      <p:sp>
        <p:nvSpPr>
          <p:cNvPr id="7" name="Text 4"/>
          <p:cNvSpPr/>
          <p:nvPr/>
        </p:nvSpPr>
        <p:spPr>
          <a:xfrm>
            <a:off x="4642842" y="161761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842" y="1839516"/>
            <a:ext cx="4005039" cy="1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42842" y="1948458"/>
            <a:ext cx="21253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哪些任務可下放低階模型？</a:t>
            </a:r>
            <a:endParaRPr lang="zh-CN" sz="1350" dirty="0"/>
          </a:p>
        </p:txBody>
      </p:sp>
      <p:sp>
        <p:nvSpPr>
          <p:cNvPr id="10" name="Text 6"/>
          <p:cNvSpPr/>
          <p:nvPr/>
        </p:nvSpPr>
        <p:spPr>
          <a:xfrm>
            <a:off x="496119" y="241793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25626"/>
            <a:ext cx="4004965" cy="190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2748781"/>
            <a:ext cx="38065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Instructions / Skills / Prompt Files 如何分層？</a:t>
            </a:r>
            <a:endParaRPr lang="zh-CN" sz="1350" dirty="0"/>
          </a:p>
        </p:txBody>
      </p:sp>
      <p:sp>
        <p:nvSpPr>
          <p:cNvPr id="13" name="Text 8"/>
          <p:cNvSpPr/>
          <p:nvPr/>
        </p:nvSpPr>
        <p:spPr>
          <a:xfrm>
            <a:off x="4642842" y="241793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842" y="2625626"/>
            <a:ext cx="4005039" cy="190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42842" y="2748781"/>
            <a:ext cx="26088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每種任務平均 credits 與成功率？</a:t>
            </a:r>
            <a:endParaRPr lang="zh-CN" sz="1350" dirty="0"/>
          </a:p>
        </p:txBody>
      </p:sp>
      <p:sp>
        <p:nvSpPr>
          <p:cNvPr id="16" name="Text 10"/>
          <p:cNvSpPr/>
          <p:nvPr/>
        </p:nvSpPr>
        <p:spPr>
          <a:xfrm>
            <a:off x="496119" y="321825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411810"/>
            <a:ext cx="4004965" cy="190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119" y="3549104"/>
            <a:ext cx="34296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能否透過標準流程降低 30%～50% credits？</a:t>
            </a:r>
            <a:endParaRPr lang="zh-CN" sz="1350" dirty="0"/>
          </a:p>
        </p:txBody>
      </p:sp>
      <p:sp>
        <p:nvSpPr>
          <p:cNvPr id="19" name="Text 12"/>
          <p:cNvSpPr/>
          <p:nvPr/>
        </p:nvSpPr>
        <p:spPr>
          <a:xfrm>
            <a:off x="4642842" y="321825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842" y="3411810"/>
            <a:ext cx="4005039" cy="190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42842" y="3549104"/>
            <a:ext cx="19482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能否減少人工修正時間？</a:t>
            </a:r>
            <a:endParaRPr lang="zh-CN" sz="1350" dirty="0"/>
          </a:p>
        </p:txBody>
      </p:sp>
      <p:sp>
        <p:nvSpPr>
          <p:cNvPr id="22" name="Shape 14"/>
          <p:cNvSpPr/>
          <p:nvPr/>
        </p:nvSpPr>
        <p:spPr>
          <a:xfrm>
            <a:off x="496119" y="3993728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B6FCB8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4208785"/>
            <a:ext cx="177180" cy="14175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56816" y="421347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最終目標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不是單純省 token，而是建立一套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可控、可估、可複製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的 AI 開發流程。</a:t>
            </a:r>
            <a:endParaRPr lang="zh-CN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2026-06-02T23:44:12Z</dcterms:created>
  <dcterms:modified xsi:type="dcterms:W3CDTF">2026-06-02T23:44:12Z</dcterms:modified>
</cp:coreProperties>
</file>